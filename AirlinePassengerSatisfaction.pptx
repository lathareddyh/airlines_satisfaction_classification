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4" r:id="rId8"/>
    <p:sldId id="265" r:id="rId9"/>
    <p:sldId id="266" r:id="rId10"/>
    <p:sldId id="262"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6" d="100"/>
          <a:sy n="76" d="100"/>
        </p:scale>
        <p:origin x="216"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4948-B04C-B261-ABE6-0E00DFACA3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A10859-CD70-C1D7-1AB0-DA7060145A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5C18BF-DE6C-DD09-17D2-96969F208955}"/>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5D82644F-DADB-BF50-D789-0A28720F1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D24098-4ED7-61C7-3A75-6D215A3B9157}"/>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3358492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6AD9-D292-203E-8F32-A0ACA32795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ADD8C0-644F-1746-A975-4D4F0E24C8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61131A-EAB7-15D4-ACE3-21809111FEA7}"/>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2A97FF24-C9A2-D0C6-E2E8-D72D50B87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CC31F3-F308-C6C2-13B2-E983972C9B4C}"/>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22478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3B16E-3E8D-5E71-A4FD-416BA192D7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A36FB2-79EA-1CFB-D03D-3364BB2F70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036F25-EFAB-52E7-C9BB-AD5A9CCB35F7}"/>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6C151DD9-0C2B-695F-D384-1166504D8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F81BA-4585-5165-41A2-4598050A581A}"/>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3220497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A5B6B-E925-4034-05F7-1E6AC22772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86D5AC-50FB-94F9-DE59-20030886D6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CD7CD2-19C5-3C41-0330-7E3C67B98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3F8FE2-4893-0C06-4B69-E023E8DE08A3}"/>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6" name="Footer Placeholder 5">
            <a:extLst>
              <a:ext uri="{FF2B5EF4-FFF2-40B4-BE49-F238E27FC236}">
                <a16:creationId xmlns:a16="http://schemas.microsoft.com/office/drawing/2014/main" id="{018F06EB-A646-0322-5348-65BB64B64A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8AFA1-C058-AB33-718E-A35AD55DA3C0}"/>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3078113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730F6-2DCC-50C3-B7E6-62434CBF39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D534A0-EDE3-072F-6844-452E279DBD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9EA1-B483-A84B-EC30-C7D2AEC2B5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CD284C-BD2D-D8BD-80B2-277BA7728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7880A0-56A5-F7D1-AFBB-587BEDC6E7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CC4AC2-BD0F-9BB7-0545-9DF42E7B2D05}"/>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8" name="Footer Placeholder 7">
            <a:extLst>
              <a:ext uri="{FF2B5EF4-FFF2-40B4-BE49-F238E27FC236}">
                <a16:creationId xmlns:a16="http://schemas.microsoft.com/office/drawing/2014/main" id="{F754F8F0-5683-34AA-9760-82B6137905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7E31BC-3305-BA42-6883-1542F02AD5E5}"/>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1867489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9157-6F21-5DDF-870F-63B7CF7A35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C9ECDD-86C9-70D3-8707-ACE24E8C2885}"/>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4" name="Footer Placeholder 3">
            <a:extLst>
              <a:ext uri="{FF2B5EF4-FFF2-40B4-BE49-F238E27FC236}">
                <a16:creationId xmlns:a16="http://schemas.microsoft.com/office/drawing/2014/main" id="{29B5EC84-7B27-B4D2-C19C-DF6AB6B60B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216895-FC61-CE60-E6C9-6D7433D406DC}"/>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232246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58E830-9147-CEBD-BD33-08E9F4DE5F2A}"/>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3" name="Footer Placeholder 2">
            <a:extLst>
              <a:ext uri="{FF2B5EF4-FFF2-40B4-BE49-F238E27FC236}">
                <a16:creationId xmlns:a16="http://schemas.microsoft.com/office/drawing/2014/main" id="{4F45DF26-9FBE-88EB-3A00-8DC78425E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E7E91-1EE0-39CB-8156-2C7D74B55F44}"/>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882645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26E9-83A0-0781-86FD-D904F61F40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6DA88F-F148-C4F2-28C7-DBD0B5CBDD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AB7DA6-2477-4518-13F0-FD31F12780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D145B1-0B9C-0E7D-84D7-084EEEA3CF79}"/>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6" name="Footer Placeholder 5">
            <a:extLst>
              <a:ext uri="{FF2B5EF4-FFF2-40B4-BE49-F238E27FC236}">
                <a16:creationId xmlns:a16="http://schemas.microsoft.com/office/drawing/2014/main" id="{197AA5A7-31E0-FD42-F642-73110B796F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D419F6-0490-45A6-1398-7F634F8A8947}"/>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198524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8F14E-753A-901A-860E-3A0549F7FE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612633-C5A0-E1EC-61C9-5597369950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312A66-A50C-85D4-17A5-F8692087CB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106CC-6EFF-B94D-8486-BF6D6FCF2A97}"/>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6" name="Footer Placeholder 5">
            <a:extLst>
              <a:ext uri="{FF2B5EF4-FFF2-40B4-BE49-F238E27FC236}">
                <a16:creationId xmlns:a16="http://schemas.microsoft.com/office/drawing/2014/main" id="{CCBBD5B8-E2AC-6EFC-E6D0-3FFFCDF1BA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F9D23A-F8D0-5688-5E3A-B40A3F03E7BB}"/>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3356735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FA09-FC1A-9CCA-4EEA-CC90EFF02C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8A94C2-7C93-27FA-D52B-5492A762D1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AE4BB0-7212-7350-B6C1-64BC37E307DE}"/>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41D20C9F-104E-6A38-B78B-DA92C72B53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00558-0095-760E-0CEE-860236C044B9}"/>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302733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179949-67BA-5212-8CE0-12605F66A1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0E69BF-B5F1-2871-1E74-4CEA1D8A90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356F9-0ABB-1701-7115-2904AC58E5DF}"/>
              </a:ext>
            </a:extLst>
          </p:cNvPr>
          <p:cNvSpPr>
            <a:spLocks noGrp="1"/>
          </p:cNvSpPr>
          <p:nvPr>
            <p:ph type="dt" sz="half" idx="10"/>
          </p:nvPr>
        </p:nvSpPr>
        <p:spPr/>
        <p:txBody>
          <a:body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DF16942F-FC11-FFE9-D3D5-CDC60A8E7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84625-0238-96E9-A82A-C071A1FDA843}"/>
              </a:ext>
            </a:extLst>
          </p:cNvPr>
          <p:cNvSpPr>
            <a:spLocks noGrp="1"/>
          </p:cNvSpPr>
          <p:nvPr>
            <p:ph type="sldNum" sz="quarter" idx="12"/>
          </p:nvPr>
        </p:nvSpPr>
        <p:spPr/>
        <p:txBody>
          <a:bodyPr/>
          <a:lstStyle/>
          <a:p>
            <a:fld id="{0D68667E-39A8-4DA3-9F99-5A768CA2697F}" type="slidenum">
              <a:rPr lang="en-US" smtClean="0"/>
              <a:t>‹#›</a:t>
            </a:fld>
            <a:endParaRPr lang="en-US"/>
          </a:p>
        </p:txBody>
      </p:sp>
    </p:spTree>
    <p:extLst>
      <p:ext uri="{BB962C8B-B14F-4D97-AF65-F5344CB8AC3E}">
        <p14:creationId xmlns:p14="http://schemas.microsoft.com/office/powerpoint/2010/main" val="1948930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E7F11F-3E27-6914-EB9B-78DCFA3C4C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E75E7B-CBA1-CD97-1001-41A7D70D7B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E16D2-445F-97F3-7AF9-4E391C0F72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CC42F5-1F26-47FD-B398-120FF669C513}" type="datetimeFigureOut">
              <a:rPr lang="en-US" smtClean="0"/>
              <a:t>5/10/2025</a:t>
            </a:fld>
            <a:endParaRPr lang="en-US"/>
          </a:p>
        </p:txBody>
      </p:sp>
      <p:sp>
        <p:nvSpPr>
          <p:cNvPr id="5" name="Footer Placeholder 4">
            <a:extLst>
              <a:ext uri="{FF2B5EF4-FFF2-40B4-BE49-F238E27FC236}">
                <a16:creationId xmlns:a16="http://schemas.microsoft.com/office/drawing/2014/main" id="{697150D2-2152-F289-11EF-416E6BF6FE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13C0BD-A6FD-1D66-F796-D32326B596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68667E-39A8-4DA3-9F99-5A768CA2697F}" type="slidenum">
              <a:rPr lang="en-US" smtClean="0"/>
              <a:t>‹#›</a:t>
            </a:fld>
            <a:endParaRPr lang="en-US"/>
          </a:p>
        </p:txBody>
      </p:sp>
    </p:spTree>
    <p:extLst>
      <p:ext uri="{BB962C8B-B14F-4D97-AF65-F5344CB8AC3E}">
        <p14:creationId xmlns:p14="http://schemas.microsoft.com/office/powerpoint/2010/main" val="1543070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2BD88-8BBA-CE8D-5E5F-9EED147616A1}"/>
              </a:ext>
            </a:extLst>
          </p:cNvPr>
          <p:cNvSpPr>
            <a:spLocks noGrp="1"/>
          </p:cNvSpPr>
          <p:nvPr>
            <p:ph type="ctrTitle"/>
          </p:nvPr>
        </p:nvSpPr>
        <p:spPr>
          <a:xfrm>
            <a:off x="1284515" y="1002620"/>
            <a:ext cx="9383485" cy="1620837"/>
          </a:xfrm>
        </p:spPr>
        <p:txBody>
          <a:bodyPr>
            <a:normAutofit/>
          </a:bodyPr>
          <a:lstStyle/>
          <a:p>
            <a:r>
              <a:rPr lang="en-US" dirty="0"/>
              <a:t>Airline Passenger Satisfaction</a:t>
            </a:r>
          </a:p>
        </p:txBody>
      </p:sp>
      <p:sp>
        <p:nvSpPr>
          <p:cNvPr id="3" name="Subtitle 2">
            <a:extLst>
              <a:ext uri="{FF2B5EF4-FFF2-40B4-BE49-F238E27FC236}">
                <a16:creationId xmlns:a16="http://schemas.microsoft.com/office/drawing/2014/main" id="{1E5D7C30-728D-E86E-CE76-8BF2277E7866}"/>
              </a:ext>
            </a:extLst>
          </p:cNvPr>
          <p:cNvSpPr>
            <a:spLocks noGrp="1"/>
          </p:cNvSpPr>
          <p:nvPr>
            <p:ph type="subTitle" idx="1"/>
          </p:nvPr>
        </p:nvSpPr>
        <p:spPr>
          <a:xfrm>
            <a:off x="7968342" y="3102428"/>
            <a:ext cx="3788229" cy="3560763"/>
          </a:xfrm>
        </p:spPr>
        <p:txBody>
          <a:bodyPr vert="horz" lIns="91440" tIns="45720" rIns="91440" bIns="45720" rtlCol="0">
            <a:normAutofit lnSpcReduction="10000"/>
          </a:bodyPr>
          <a:lstStyle/>
          <a:p>
            <a:r>
              <a:rPr lang="en-US" sz="3300" dirty="0"/>
              <a:t>Analysis, </a:t>
            </a:r>
          </a:p>
          <a:p>
            <a:r>
              <a:rPr lang="en-US" sz="3300" dirty="0"/>
              <a:t>Insights,</a:t>
            </a:r>
          </a:p>
          <a:p>
            <a:r>
              <a:rPr lang="en-US" sz="3300" dirty="0"/>
              <a:t>Predictions &amp; </a:t>
            </a:r>
          </a:p>
          <a:p>
            <a:r>
              <a:rPr lang="en-US" sz="3300" dirty="0"/>
              <a:t>Evaluation</a:t>
            </a:r>
          </a:p>
          <a:p>
            <a:endParaRPr lang="en-US" dirty="0"/>
          </a:p>
          <a:p>
            <a:endParaRPr lang="en-US" dirty="0"/>
          </a:p>
          <a:p>
            <a:r>
              <a:rPr lang="en-US" dirty="0"/>
              <a:t>Latha Reddy</a:t>
            </a:r>
          </a:p>
          <a:p>
            <a:endParaRPr lang="en-US" dirty="0"/>
          </a:p>
        </p:txBody>
      </p:sp>
    </p:spTree>
    <p:extLst>
      <p:ext uri="{BB962C8B-B14F-4D97-AF65-F5344CB8AC3E}">
        <p14:creationId xmlns:p14="http://schemas.microsoft.com/office/powerpoint/2010/main" val="491697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02C6-3424-BB0C-4545-C5EFE9445937}"/>
              </a:ext>
            </a:extLst>
          </p:cNvPr>
          <p:cNvSpPr>
            <a:spLocks noGrp="1"/>
          </p:cNvSpPr>
          <p:nvPr>
            <p:ph type="title"/>
          </p:nvPr>
        </p:nvSpPr>
        <p:spPr>
          <a:xfrm>
            <a:off x="386444" y="447560"/>
            <a:ext cx="10515600" cy="1325563"/>
          </a:xfrm>
        </p:spPr>
        <p:txBody>
          <a:bodyPr/>
          <a:lstStyle/>
          <a:p>
            <a:r>
              <a:rPr lang="en-US" dirty="0">
                <a:solidFill>
                  <a:schemeClr val="tx2">
                    <a:lumMod val="75000"/>
                    <a:lumOff val="25000"/>
                  </a:schemeClr>
                </a:solidFill>
              </a:rPr>
              <a:t>Dataset</a:t>
            </a:r>
            <a:r>
              <a:rPr lang="en-US" dirty="0">
                <a:solidFill>
                  <a:schemeClr val="tx2">
                    <a:lumMod val="90000"/>
                    <a:lumOff val="10000"/>
                  </a:schemeClr>
                </a:solidFill>
              </a:rPr>
              <a:t> </a:t>
            </a:r>
            <a:r>
              <a:rPr lang="en-US" dirty="0">
                <a:solidFill>
                  <a:schemeClr val="tx2">
                    <a:lumMod val="75000"/>
                    <a:lumOff val="25000"/>
                  </a:schemeClr>
                </a:solidFill>
              </a:rPr>
              <a:t>Overview</a:t>
            </a:r>
            <a:br>
              <a:rPr lang="en-US" dirty="0">
                <a:solidFill>
                  <a:schemeClr val="tx2">
                    <a:lumMod val="90000"/>
                    <a:lumOff val="10000"/>
                  </a:schemeClr>
                </a:solidFill>
              </a:rPr>
            </a:br>
            <a:endParaRPr lang="en-US" dirty="0">
              <a:solidFill>
                <a:schemeClr val="tx2">
                  <a:lumMod val="90000"/>
                  <a:lumOff val="10000"/>
                </a:schemeClr>
              </a:solidFill>
            </a:endParaRPr>
          </a:p>
        </p:txBody>
      </p:sp>
      <p:sp>
        <p:nvSpPr>
          <p:cNvPr id="3" name="Content Placeholder 2">
            <a:extLst>
              <a:ext uri="{FF2B5EF4-FFF2-40B4-BE49-F238E27FC236}">
                <a16:creationId xmlns:a16="http://schemas.microsoft.com/office/drawing/2014/main" id="{5DCAE5D7-2050-06B9-11F1-993D242CEE18}"/>
              </a:ext>
            </a:extLst>
          </p:cNvPr>
          <p:cNvSpPr>
            <a:spLocks noGrp="1"/>
          </p:cNvSpPr>
          <p:nvPr>
            <p:ph idx="1"/>
          </p:nvPr>
        </p:nvSpPr>
        <p:spPr>
          <a:xfrm>
            <a:off x="402772" y="1690688"/>
            <a:ext cx="6161314" cy="4802186"/>
          </a:xfrm>
        </p:spPr>
        <p:txBody>
          <a:bodyPr>
            <a:normAutofit/>
          </a:bodyPr>
          <a:lstStyle/>
          <a:p>
            <a:pPr>
              <a:lnSpc>
                <a:spcPct val="100000"/>
              </a:lnSpc>
              <a:buFont typeface="Arial" panose="020B0604020202020204" pitchFamily="34" charset="0"/>
              <a:buChar char="•"/>
            </a:pPr>
            <a:r>
              <a:rPr lang="en-US" sz="2000" dirty="0">
                <a:solidFill>
                  <a:schemeClr val="tx2">
                    <a:lumMod val="75000"/>
                    <a:lumOff val="25000"/>
                  </a:schemeClr>
                </a:solidFill>
              </a:rPr>
              <a:t>Data set is having 129880 and 24 columns </a:t>
            </a:r>
          </a:p>
          <a:p>
            <a:pPr>
              <a:lnSpc>
                <a:spcPct val="100000"/>
              </a:lnSpc>
              <a:buFont typeface="Arial" panose="020B0604020202020204" pitchFamily="34" charset="0"/>
              <a:buChar char="•"/>
            </a:pPr>
            <a:r>
              <a:rPr lang="en-US" sz="2000" b="1" dirty="0">
                <a:solidFill>
                  <a:schemeClr val="tx2">
                    <a:lumMod val="75000"/>
                    <a:lumOff val="25000"/>
                  </a:schemeClr>
                </a:solidFill>
              </a:rPr>
              <a:t>Sample features: </a:t>
            </a:r>
            <a:r>
              <a:rPr lang="en-US" sz="2000" dirty="0">
                <a:solidFill>
                  <a:schemeClr val="tx2">
                    <a:lumMod val="75000"/>
                    <a:lumOff val="25000"/>
                  </a:schemeClr>
                </a:solidFill>
              </a:rPr>
              <a:t>Gender, Age, Customer Type, Type of Travel, Class, Flight Distance, Departure Delay, Arrival Delay, Departure and Arrival Time Convenience. (9 features)</a:t>
            </a:r>
          </a:p>
          <a:p>
            <a:pPr>
              <a:lnSpc>
                <a:spcPct val="100000"/>
              </a:lnSpc>
            </a:pPr>
            <a:r>
              <a:rPr lang="en-US" sz="2000" b="1" dirty="0">
                <a:solidFill>
                  <a:schemeClr val="tx2">
                    <a:lumMod val="75000"/>
                    <a:lumOff val="25000"/>
                  </a:schemeClr>
                </a:solidFill>
              </a:rPr>
              <a:t>Survey Features: </a:t>
            </a:r>
            <a:r>
              <a:rPr lang="en-US" sz="2000" dirty="0">
                <a:solidFill>
                  <a:schemeClr val="tx2">
                    <a:lumMod val="75000"/>
                    <a:lumOff val="25000"/>
                  </a:schemeClr>
                </a:solidFill>
              </a:rPr>
              <a:t>Ease of Online Booking, Check-in Service, Online Boarding, Gate Location, On-board Service, Seat Comfort, Leg Room Service, Cleanliness, Food and Drink, In-flight Service, In-flight </a:t>
            </a:r>
            <a:r>
              <a:rPr lang="en-US" sz="2000" dirty="0" err="1">
                <a:solidFill>
                  <a:schemeClr val="tx2">
                    <a:lumMod val="75000"/>
                    <a:lumOff val="25000"/>
                  </a:schemeClr>
                </a:solidFill>
              </a:rPr>
              <a:t>Wifi</a:t>
            </a:r>
            <a:r>
              <a:rPr lang="en-US" sz="2000" dirty="0">
                <a:solidFill>
                  <a:schemeClr val="tx2">
                    <a:lumMod val="75000"/>
                    <a:lumOff val="25000"/>
                  </a:schemeClr>
                </a:solidFill>
              </a:rPr>
              <a:t> Service, In-flight Entertainment, Baggage Handling (13 features)</a:t>
            </a:r>
          </a:p>
          <a:p>
            <a:pPr>
              <a:lnSpc>
                <a:spcPct val="100000"/>
              </a:lnSpc>
            </a:pPr>
            <a:r>
              <a:rPr lang="en-US" sz="2000" b="1" dirty="0">
                <a:solidFill>
                  <a:schemeClr val="tx2">
                    <a:lumMod val="75000"/>
                    <a:lumOff val="25000"/>
                  </a:schemeClr>
                </a:solidFill>
              </a:rPr>
              <a:t>Target Feature:</a:t>
            </a:r>
            <a:r>
              <a:rPr lang="en-US" sz="2000" dirty="0">
                <a:solidFill>
                  <a:schemeClr val="tx2">
                    <a:lumMod val="75000"/>
                    <a:lumOff val="25000"/>
                  </a:schemeClr>
                </a:solidFill>
              </a:rPr>
              <a:t> Satisfaction</a:t>
            </a:r>
          </a:p>
        </p:txBody>
      </p:sp>
      <p:sp>
        <p:nvSpPr>
          <p:cNvPr id="6" name="Rectangle 5">
            <a:extLst>
              <a:ext uri="{FF2B5EF4-FFF2-40B4-BE49-F238E27FC236}">
                <a16:creationId xmlns:a16="http://schemas.microsoft.com/office/drawing/2014/main" id="{A98011BC-CB1F-52AA-AB3F-F1139B1E3FB4}"/>
              </a:ext>
            </a:extLst>
          </p:cNvPr>
          <p:cNvSpPr/>
          <p:nvPr/>
        </p:nvSpPr>
        <p:spPr>
          <a:xfrm>
            <a:off x="7459081" y="5896"/>
            <a:ext cx="4732919" cy="47570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B975C0E-9F19-89E1-C273-83B285239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9257" y="1110343"/>
            <a:ext cx="5089071" cy="3722036"/>
          </a:xfrm>
          <a:prstGeom prst="rect">
            <a:avLst/>
          </a:prstGeom>
          <a:effectLst>
            <a:reflection stA="99000" endPos="65000" dist="50800" dir="5400000" sy="-100000" algn="bl" rotWithShape="0"/>
          </a:effectLst>
        </p:spPr>
      </p:pic>
      <p:cxnSp>
        <p:nvCxnSpPr>
          <p:cNvPr id="9" name="Straight Connector 8">
            <a:extLst>
              <a:ext uri="{FF2B5EF4-FFF2-40B4-BE49-F238E27FC236}">
                <a16:creationId xmlns:a16="http://schemas.microsoft.com/office/drawing/2014/main" id="{FD70CED9-A722-746E-9E1D-11AE464AF53C}"/>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20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F801E2-6B4D-A7F0-AA18-105B69DFEAE1}"/>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Data</a:t>
            </a:r>
            <a:r>
              <a:rPr lang="en-US" dirty="0">
                <a:solidFill>
                  <a:schemeClr val="tx2">
                    <a:lumMod val="90000"/>
                    <a:lumOff val="10000"/>
                  </a:schemeClr>
                </a:solidFill>
              </a:rPr>
              <a:t> </a:t>
            </a:r>
            <a:r>
              <a:rPr lang="en-US" dirty="0">
                <a:solidFill>
                  <a:schemeClr val="tx2">
                    <a:lumMod val="75000"/>
                    <a:lumOff val="25000"/>
                  </a:schemeClr>
                </a:solidFill>
              </a:rPr>
              <a:t>Preprocessing</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8F82B7C9-4E75-86D2-F8F7-62E6CF0182A0}"/>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824E39F5-21B9-3964-2D31-A1D50211B895}"/>
              </a:ext>
            </a:extLst>
          </p:cNvPr>
          <p:cNvSpPr>
            <a:spLocks noGrp="1"/>
          </p:cNvSpPr>
          <p:nvPr>
            <p:ph idx="1"/>
          </p:nvPr>
        </p:nvSpPr>
        <p:spPr>
          <a:xfrm>
            <a:off x="402772" y="1690688"/>
            <a:ext cx="11549742" cy="4802186"/>
          </a:xfrm>
        </p:spPr>
        <p:txBody>
          <a:bodyPr>
            <a:normAutofit/>
          </a:bodyPr>
          <a:lstStyle/>
          <a:p>
            <a:pPr>
              <a:lnSpc>
                <a:spcPct val="100000"/>
              </a:lnSpc>
              <a:buFont typeface="Arial" panose="020B0604020202020204" pitchFamily="34" charset="0"/>
              <a:buChar char="•"/>
            </a:pPr>
            <a:r>
              <a:rPr lang="en-US" dirty="0">
                <a:solidFill>
                  <a:schemeClr val="tx2">
                    <a:lumMod val="75000"/>
                    <a:lumOff val="25000"/>
                  </a:schemeClr>
                </a:solidFill>
              </a:rPr>
              <a:t>Handling Missing Values</a:t>
            </a:r>
          </a:p>
          <a:p>
            <a:pPr marL="0" indent="0">
              <a:lnSpc>
                <a:spcPct val="100000"/>
              </a:lnSpc>
              <a:buNone/>
            </a:pPr>
            <a:r>
              <a:rPr lang="en-US" sz="1800" dirty="0">
                <a:solidFill>
                  <a:schemeClr val="tx2">
                    <a:lumMod val="75000"/>
                    <a:lumOff val="25000"/>
                  </a:schemeClr>
                </a:solidFill>
              </a:rPr>
              <a:t>     - Used min value to fill the missing values</a:t>
            </a:r>
          </a:p>
          <a:p>
            <a:pPr marL="0" indent="0">
              <a:lnSpc>
                <a:spcPct val="100000"/>
              </a:lnSpc>
              <a:buNone/>
            </a:pPr>
            <a:endParaRPr lang="en-US" sz="1800" dirty="0">
              <a:solidFill>
                <a:schemeClr val="tx2">
                  <a:lumMod val="75000"/>
                  <a:lumOff val="25000"/>
                </a:schemeClr>
              </a:solidFill>
            </a:endParaRPr>
          </a:p>
          <a:p>
            <a:pPr>
              <a:lnSpc>
                <a:spcPct val="100000"/>
              </a:lnSpc>
              <a:buFont typeface="Arial" panose="020B0604020202020204" pitchFamily="34" charset="0"/>
              <a:buChar char="•"/>
            </a:pPr>
            <a:r>
              <a:rPr lang="en-US" dirty="0">
                <a:solidFill>
                  <a:schemeClr val="tx2">
                    <a:lumMod val="75000"/>
                    <a:lumOff val="25000"/>
                  </a:schemeClr>
                </a:solidFill>
              </a:rPr>
              <a:t>Encoding the categorical features</a:t>
            </a:r>
          </a:p>
          <a:p>
            <a:pPr marL="0" indent="0">
              <a:lnSpc>
                <a:spcPct val="100000"/>
              </a:lnSpc>
              <a:buNone/>
            </a:pPr>
            <a:r>
              <a:rPr lang="en-US" sz="1800" dirty="0">
                <a:solidFill>
                  <a:schemeClr val="tx2">
                    <a:lumMod val="75000"/>
                    <a:lumOff val="25000"/>
                  </a:schemeClr>
                </a:solidFill>
              </a:rPr>
              <a:t>     - Used Label Encoding Technique to encoding the categorical columns</a:t>
            </a:r>
          </a:p>
          <a:p>
            <a:pPr marL="0" indent="0">
              <a:lnSpc>
                <a:spcPct val="100000"/>
              </a:lnSpc>
              <a:buNone/>
            </a:pPr>
            <a:endParaRPr lang="en-US" sz="1800" dirty="0">
              <a:solidFill>
                <a:schemeClr val="tx2">
                  <a:lumMod val="75000"/>
                  <a:lumOff val="25000"/>
                </a:schemeClr>
              </a:solidFill>
            </a:endParaRPr>
          </a:p>
          <a:p>
            <a:pPr>
              <a:lnSpc>
                <a:spcPct val="100000"/>
              </a:lnSpc>
              <a:buFont typeface="Arial" panose="020B0604020202020204" pitchFamily="34" charset="0"/>
              <a:buChar char="•"/>
            </a:pPr>
            <a:r>
              <a:rPr lang="en-US" dirty="0">
                <a:solidFill>
                  <a:schemeClr val="tx2">
                    <a:lumMod val="75000"/>
                    <a:lumOff val="25000"/>
                  </a:schemeClr>
                </a:solidFill>
              </a:rPr>
              <a:t>Feature Scaling</a:t>
            </a:r>
          </a:p>
          <a:p>
            <a:pPr marL="0" indent="0">
              <a:lnSpc>
                <a:spcPct val="100000"/>
              </a:lnSpc>
              <a:buNone/>
            </a:pPr>
            <a:r>
              <a:rPr lang="en-US" sz="1800" dirty="0">
                <a:solidFill>
                  <a:schemeClr val="tx2">
                    <a:lumMod val="75000"/>
                    <a:lumOff val="25000"/>
                  </a:schemeClr>
                </a:solidFill>
              </a:rPr>
              <a:t>     - Used </a:t>
            </a:r>
            <a:r>
              <a:rPr lang="en-US" sz="1800" dirty="0" err="1">
                <a:solidFill>
                  <a:schemeClr val="tx2">
                    <a:lumMod val="75000"/>
                    <a:lumOff val="25000"/>
                  </a:schemeClr>
                </a:solidFill>
              </a:rPr>
              <a:t>StandardScaler</a:t>
            </a:r>
            <a:r>
              <a:rPr lang="en-US" sz="1800" dirty="0">
                <a:solidFill>
                  <a:schemeClr val="tx2">
                    <a:lumMod val="75000"/>
                    <a:lumOff val="25000"/>
                  </a:schemeClr>
                </a:solidFill>
              </a:rPr>
              <a:t> to standardizes features by removing the mean and scaling to unit variance</a:t>
            </a:r>
          </a:p>
          <a:p>
            <a:pPr marL="0" indent="0">
              <a:lnSpc>
                <a:spcPct val="100000"/>
              </a:lnSpc>
              <a:buNone/>
            </a:pPr>
            <a:endParaRPr lang="en-US" sz="1800" dirty="0">
              <a:solidFill>
                <a:schemeClr val="tx2">
                  <a:lumMod val="75000"/>
                  <a:lumOff val="25000"/>
                </a:schemeClr>
              </a:solidFill>
            </a:endParaRPr>
          </a:p>
          <a:p>
            <a:pPr marL="0" indent="0">
              <a:lnSpc>
                <a:spcPct val="100000"/>
              </a:lnSpc>
              <a:buNone/>
            </a:pPr>
            <a:endParaRPr lang="en-US" sz="1800" dirty="0">
              <a:solidFill>
                <a:schemeClr val="tx2">
                  <a:lumMod val="75000"/>
                  <a:lumOff val="25000"/>
                </a:schemeClr>
              </a:solidFill>
            </a:endParaRPr>
          </a:p>
        </p:txBody>
      </p:sp>
    </p:spTree>
    <p:extLst>
      <p:ext uri="{BB962C8B-B14F-4D97-AF65-F5344CB8AC3E}">
        <p14:creationId xmlns:p14="http://schemas.microsoft.com/office/powerpoint/2010/main" val="71207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5FE0B3C-70F1-0E51-003D-990F2359AFE0}"/>
              </a:ext>
            </a:extLst>
          </p:cNvPr>
          <p:cNvPicPr>
            <a:picLocks noGrp="1" noChangeAspect="1"/>
          </p:cNvPicPr>
          <p:nvPr>
            <p:ph idx="1"/>
          </p:nvPr>
        </p:nvPicPr>
        <p:blipFill>
          <a:blip r:embed="rId2"/>
          <a:stretch>
            <a:fillRect/>
          </a:stretch>
        </p:blipFill>
        <p:spPr>
          <a:xfrm>
            <a:off x="277138" y="1773124"/>
            <a:ext cx="5818862" cy="4351338"/>
          </a:xfrm>
        </p:spPr>
      </p:pic>
      <p:sp>
        <p:nvSpPr>
          <p:cNvPr id="4" name="Title 1">
            <a:extLst>
              <a:ext uri="{FF2B5EF4-FFF2-40B4-BE49-F238E27FC236}">
                <a16:creationId xmlns:a16="http://schemas.microsoft.com/office/drawing/2014/main" id="{E949241A-8C61-0D2E-C6CF-B6BB302F0C86}"/>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Exploratory Data Analysis</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869F92EA-3812-7E91-8935-665E5DB44854}"/>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7507B0C5-D27D-AE23-CF1B-43944110F13E}"/>
              </a:ext>
            </a:extLst>
          </p:cNvPr>
          <p:cNvPicPr>
            <a:picLocks noChangeAspect="1"/>
          </p:cNvPicPr>
          <p:nvPr/>
        </p:nvPicPr>
        <p:blipFill>
          <a:blip r:embed="rId3"/>
          <a:stretch>
            <a:fillRect/>
          </a:stretch>
        </p:blipFill>
        <p:spPr>
          <a:xfrm>
            <a:off x="6302831" y="1920161"/>
            <a:ext cx="5737666" cy="4624450"/>
          </a:xfrm>
          <a:prstGeom prst="rect">
            <a:avLst/>
          </a:prstGeom>
        </p:spPr>
      </p:pic>
      <p:sp>
        <p:nvSpPr>
          <p:cNvPr id="10" name="TextBox 9">
            <a:extLst>
              <a:ext uri="{FF2B5EF4-FFF2-40B4-BE49-F238E27FC236}">
                <a16:creationId xmlns:a16="http://schemas.microsoft.com/office/drawing/2014/main" id="{DF8435B1-2C08-7C59-EF6A-379905FAAEA1}"/>
              </a:ext>
            </a:extLst>
          </p:cNvPr>
          <p:cNvSpPr txBox="1"/>
          <p:nvPr/>
        </p:nvSpPr>
        <p:spPr>
          <a:xfrm>
            <a:off x="7523905" y="1257381"/>
            <a:ext cx="3295518" cy="369332"/>
          </a:xfrm>
          <a:prstGeom prst="rect">
            <a:avLst/>
          </a:prstGeom>
          <a:noFill/>
        </p:spPr>
        <p:txBody>
          <a:bodyPr wrap="none" rtlCol="0">
            <a:spAutoFit/>
          </a:bodyPr>
          <a:lstStyle/>
          <a:p>
            <a:r>
              <a:rPr lang="en-US" dirty="0"/>
              <a:t>Correlation (Heatmap) Analysis</a:t>
            </a:r>
          </a:p>
        </p:txBody>
      </p:sp>
      <p:sp>
        <p:nvSpPr>
          <p:cNvPr id="11" name="TextBox 10">
            <a:extLst>
              <a:ext uri="{FF2B5EF4-FFF2-40B4-BE49-F238E27FC236}">
                <a16:creationId xmlns:a16="http://schemas.microsoft.com/office/drawing/2014/main" id="{5E404C03-EBC3-17E9-10CC-091BD8842EA4}"/>
              </a:ext>
            </a:extLst>
          </p:cNvPr>
          <p:cNvSpPr txBox="1"/>
          <p:nvPr/>
        </p:nvSpPr>
        <p:spPr>
          <a:xfrm>
            <a:off x="676791" y="1256755"/>
            <a:ext cx="1908856" cy="369332"/>
          </a:xfrm>
          <a:prstGeom prst="rect">
            <a:avLst/>
          </a:prstGeom>
          <a:noFill/>
        </p:spPr>
        <p:txBody>
          <a:bodyPr wrap="none" rtlCol="0">
            <a:spAutoFit/>
          </a:bodyPr>
          <a:lstStyle/>
          <a:p>
            <a:r>
              <a:rPr lang="en-US" dirty="0"/>
              <a:t>Distribution Plots</a:t>
            </a:r>
          </a:p>
        </p:txBody>
      </p:sp>
    </p:spTree>
    <p:extLst>
      <p:ext uri="{BB962C8B-B14F-4D97-AF65-F5344CB8AC3E}">
        <p14:creationId xmlns:p14="http://schemas.microsoft.com/office/powerpoint/2010/main" val="391696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1A5F29E-D7EA-D158-4732-AF579AF01C94}"/>
              </a:ext>
            </a:extLst>
          </p:cNvPr>
          <p:cNvPicPr>
            <a:picLocks noGrp="1" noChangeAspect="1"/>
          </p:cNvPicPr>
          <p:nvPr>
            <p:ph idx="1"/>
          </p:nvPr>
        </p:nvPicPr>
        <p:blipFill>
          <a:blip r:embed="rId2"/>
          <a:stretch>
            <a:fillRect/>
          </a:stretch>
        </p:blipFill>
        <p:spPr>
          <a:xfrm>
            <a:off x="5308147" y="2063637"/>
            <a:ext cx="5610225" cy="4114800"/>
          </a:xfrm>
        </p:spPr>
      </p:pic>
      <p:sp>
        <p:nvSpPr>
          <p:cNvPr id="4" name="Title 1">
            <a:extLst>
              <a:ext uri="{FF2B5EF4-FFF2-40B4-BE49-F238E27FC236}">
                <a16:creationId xmlns:a16="http://schemas.microsoft.com/office/drawing/2014/main" id="{AF34B8A0-1F04-08CF-A3C5-81A8774F8D7E}"/>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Exploratory Data Analysis</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69C43F33-72C5-3527-6443-1A44455833DC}"/>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C78BB63-B9DB-E343-E2A3-93800FB2655C}"/>
              </a:ext>
            </a:extLst>
          </p:cNvPr>
          <p:cNvSpPr txBox="1"/>
          <p:nvPr/>
        </p:nvSpPr>
        <p:spPr>
          <a:xfrm>
            <a:off x="261257" y="2435906"/>
            <a:ext cx="6096000" cy="1760547"/>
          </a:xfrm>
          <a:prstGeom prst="rect">
            <a:avLst/>
          </a:prstGeom>
          <a:noFill/>
        </p:spPr>
        <p:txBody>
          <a:bodyPr wrap="square">
            <a:spAutoFit/>
          </a:bodyPr>
          <a:lstStyle/>
          <a:p>
            <a:pPr marL="0" indent="0">
              <a:lnSpc>
                <a:spcPct val="150000"/>
              </a:lnSpc>
              <a:buNone/>
            </a:pPr>
            <a:r>
              <a:rPr lang="en-US" sz="2000" b="1" dirty="0">
                <a:solidFill>
                  <a:schemeClr val="tx2">
                    <a:lumMod val="75000"/>
                    <a:lumOff val="25000"/>
                  </a:schemeClr>
                </a:solidFill>
              </a:rPr>
              <a:t>Balance between Target Feature</a:t>
            </a:r>
          </a:p>
          <a:p>
            <a:pPr marL="0" indent="0">
              <a:lnSpc>
                <a:spcPct val="150000"/>
              </a:lnSpc>
              <a:buNone/>
            </a:pPr>
            <a:endParaRPr lang="en-US" dirty="0">
              <a:solidFill>
                <a:schemeClr val="tx2">
                  <a:lumMod val="75000"/>
                  <a:lumOff val="25000"/>
                </a:schemeClr>
              </a:solidFill>
            </a:endParaRPr>
          </a:p>
          <a:p>
            <a:pPr marL="0" indent="0">
              <a:lnSpc>
                <a:spcPct val="150000"/>
              </a:lnSpc>
              <a:buNone/>
            </a:pPr>
            <a:r>
              <a:rPr lang="en-US" dirty="0">
                <a:solidFill>
                  <a:schemeClr val="tx2">
                    <a:lumMod val="75000"/>
                    <a:lumOff val="25000"/>
                  </a:schemeClr>
                </a:solidFill>
              </a:rPr>
              <a:t>Neutral or Dissatisfied – 56.6%</a:t>
            </a:r>
          </a:p>
          <a:p>
            <a:pPr marL="0" indent="0">
              <a:lnSpc>
                <a:spcPct val="150000"/>
              </a:lnSpc>
              <a:buNone/>
            </a:pPr>
            <a:r>
              <a:rPr lang="en-US" sz="1800" dirty="0">
                <a:solidFill>
                  <a:schemeClr val="tx2">
                    <a:lumMod val="75000"/>
                    <a:lumOff val="25000"/>
                  </a:schemeClr>
                </a:solidFill>
              </a:rPr>
              <a:t>Satisfied – 43.4</a:t>
            </a:r>
            <a:r>
              <a:rPr lang="en-US" dirty="0">
                <a:solidFill>
                  <a:schemeClr val="tx2">
                    <a:lumMod val="75000"/>
                    <a:lumOff val="25000"/>
                  </a:schemeClr>
                </a:solidFill>
              </a:rPr>
              <a:t>%</a:t>
            </a:r>
            <a:endParaRPr lang="en-US" sz="1800" dirty="0">
              <a:solidFill>
                <a:schemeClr val="tx2">
                  <a:lumMod val="75000"/>
                  <a:lumOff val="25000"/>
                </a:schemeClr>
              </a:solidFill>
            </a:endParaRPr>
          </a:p>
        </p:txBody>
      </p:sp>
    </p:spTree>
    <p:extLst>
      <p:ext uri="{BB962C8B-B14F-4D97-AF65-F5344CB8AC3E}">
        <p14:creationId xmlns:p14="http://schemas.microsoft.com/office/powerpoint/2010/main" val="1696934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9FEBB-4ACB-8BAF-5FDD-69BF3D58BAEA}"/>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BD7363D-C4D2-72E1-015D-283112DFAB93}"/>
              </a:ext>
            </a:extLst>
          </p:cNvPr>
          <p:cNvPicPr>
            <a:picLocks noGrp="1" noChangeAspect="1"/>
          </p:cNvPicPr>
          <p:nvPr>
            <p:ph idx="1"/>
          </p:nvPr>
        </p:nvPicPr>
        <p:blipFill>
          <a:blip r:embed="rId2"/>
          <a:stretch>
            <a:fillRect/>
          </a:stretch>
        </p:blipFill>
        <p:spPr>
          <a:xfrm>
            <a:off x="50347" y="1371600"/>
            <a:ext cx="5610225" cy="4114800"/>
          </a:xfrm>
        </p:spPr>
      </p:pic>
      <p:sp>
        <p:nvSpPr>
          <p:cNvPr id="4" name="Title 1">
            <a:extLst>
              <a:ext uri="{FF2B5EF4-FFF2-40B4-BE49-F238E27FC236}">
                <a16:creationId xmlns:a16="http://schemas.microsoft.com/office/drawing/2014/main" id="{5050ECBC-8D82-F244-AEC4-08029B78C41C}"/>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Exploratory Data Analysis</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426591BB-D993-2B6C-9C6A-5816D7104D07}"/>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972E3AA-EFB9-A6FB-C779-D10715F48825}"/>
              </a:ext>
            </a:extLst>
          </p:cNvPr>
          <p:cNvSpPr txBox="1"/>
          <p:nvPr/>
        </p:nvSpPr>
        <p:spPr>
          <a:xfrm>
            <a:off x="402772" y="5651378"/>
            <a:ext cx="4902758" cy="467885"/>
          </a:xfrm>
          <a:prstGeom prst="rect">
            <a:avLst/>
          </a:prstGeom>
          <a:noFill/>
        </p:spPr>
        <p:txBody>
          <a:bodyPr wrap="square">
            <a:spAutoFit/>
          </a:bodyPr>
          <a:lstStyle/>
          <a:p>
            <a:pPr marL="0" indent="0">
              <a:lnSpc>
                <a:spcPct val="150000"/>
              </a:lnSpc>
              <a:buNone/>
            </a:pPr>
            <a:r>
              <a:rPr lang="en-US" dirty="0">
                <a:solidFill>
                  <a:schemeClr val="tx2">
                    <a:lumMod val="75000"/>
                    <a:lumOff val="25000"/>
                  </a:schemeClr>
                </a:solidFill>
              </a:rPr>
              <a:t>** Gender does not affect the satisfaction</a:t>
            </a:r>
            <a:endParaRPr lang="en-US" sz="1800" dirty="0">
              <a:solidFill>
                <a:schemeClr val="tx2">
                  <a:lumMod val="75000"/>
                  <a:lumOff val="25000"/>
                </a:schemeClr>
              </a:solidFill>
            </a:endParaRPr>
          </a:p>
        </p:txBody>
      </p:sp>
      <p:pic>
        <p:nvPicPr>
          <p:cNvPr id="9" name="Picture 8">
            <a:extLst>
              <a:ext uri="{FF2B5EF4-FFF2-40B4-BE49-F238E27FC236}">
                <a16:creationId xmlns:a16="http://schemas.microsoft.com/office/drawing/2014/main" id="{4C4AB1B5-DFC4-85CD-AF92-6147E2227E49}"/>
              </a:ext>
            </a:extLst>
          </p:cNvPr>
          <p:cNvPicPr>
            <a:picLocks noChangeAspect="1"/>
          </p:cNvPicPr>
          <p:nvPr/>
        </p:nvPicPr>
        <p:blipFill>
          <a:blip r:embed="rId3"/>
          <a:stretch>
            <a:fillRect/>
          </a:stretch>
        </p:blipFill>
        <p:spPr>
          <a:xfrm>
            <a:off x="6012995" y="1371600"/>
            <a:ext cx="5776233" cy="3974534"/>
          </a:xfrm>
          <a:prstGeom prst="rect">
            <a:avLst/>
          </a:prstGeom>
        </p:spPr>
      </p:pic>
    </p:spTree>
    <p:extLst>
      <p:ext uri="{BB962C8B-B14F-4D97-AF65-F5344CB8AC3E}">
        <p14:creationId xmlns:p14="http://schemas.microsoft.com/office/powerpoint/2010/main" val="155243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19D7-772D-5EE1-9F22-44EE5BFB1482}"/>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DCA96D0-9B16-8D46-AD5D-33AAD3095774}"/>
              </a:ext>
            </a:extLst>
          </p:cNvPr>
          <p:cNvPicPr>
            <a:picLocks noGrp="1" noChangeAspect="1"/>
          </p:cNvPicPr>
          <p:nvPr>
            <p:ph idx="1"/>
          </p:nvPr>
        </p:nvPicPr>
        <p:blipFill>
          <a:blip r:embed="rId2"/>
          <a:stretch>
            <a:fillRect/>
          </a:stretch>
        </p:blipFill>
        <p:spPr>
          <a:xfrm>
            <a:off x="123847" y="2425986"/>
            <a:ext cx="3645647" cy="2615168"/>
          </a:xfrm>
        </p:spPr>
      </p:pic>
      <p:sp>
        <p:nvSpPr>
          <p:cNvPr id="4" name="Title 1">
            <a:extLst>
              <a:ext uri="{FF2B5EF4-FFF2-40B4-BE49-F238E27FC236}">
                <a16:creationId xmlns:a16="http://schemas.microsoft.com/office/drawing/2014/main" id="{97B763C8-3AEC-6F7B-CCC1-BA5E41246044}"/>
              </a:ext>
            </a:extLst>
          </p:cNvPr>
          <p:cNvSpPr txBox="1">
            <a:spLocks/>
          </p:cNvSpPr>
          <p:nvPr/>
        </p:nvSpPr>
        <p:spPr>
          <a:xfrm>
            <a:off x="402772" y="447562"/>
            <a:ext cx="10515600" cy="12988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Exploratory Data Analysis</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C5A1C8BB-5C97-8B83-2884-C681B7A6B223}"/>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655BC678-7929-C314-46B6-B8AAC5B45A96}"/>
              </a:ext>
            </a:extLst>
          </p:cNvPr>
          <p:cNvPicPr>
            <a:picLocks noChangeAspect="1"/>
          </p:cNvPicPr>
          <p:nvPr/>
        </p:nvPicPr>
        <p:blipFill>
          <a:blip r:embed="rId3"/>
          <a:stretch>
            <a:fillRect/>
          </a:stretch>
        </p:blipFill>
        <p:spPr>
          <a:xfrm>
            <a:off x="3937887" y="2425984"/>
            <a:ext cx="3642871" cy="2615170"/>
          </a:xfrm>
          <a:prstGeom prst="rect">
            <a:avLst/>
          </a:prstGeom>
        </p:spPr>
      </p:pic>
      <p:pic>
        <p:nvPicPr>
          <p:cNvPr id="10" name="Picture 9">
            <a:extLst>
              <a:ext uri="{FF2B5EF4-FFF2-40B4-BE49-F238E27FC236}">
                <a16:creationId xmlns:a16="http://schemas.microsoft.com/office/drawing/2014/main" id="{802274A9-822F-5986-BC84-8A69C03C55A8}"/>
              </a:ext>
            </a:extLst>
          </p:cNvPr>
          <p:cNvPicPr>
            <a:picLocks noChangeAspect="1"/>
          </p:cNvPicPr>
          <p:nvPr/>
        </p:nvPicPr>
        <p:blipFill>
          <a:blip r:embed="rId4"/>
          <a:stretch>
            <a:fillRect/>
          </a:stretch>
        </p:blipFill>
        <p:spPr>
          <a:xfrm>
            <a:off x="7897147" y="2237537"/>
            <a:ext cx="3892081" cy="2803617"/>
          </a:xfrm>
          <a:prstGeom prst="rect">
            <a:avLst/>
          </a:prstGeom>
        </p:spPr>
      </p:pic>
      <p:sp>
        <p:nvSpPr>
          <p:cNvPr id="13" name="TextBox 12">
            <a:extLst>
              <a:ext uri="{FF2B5EF4-FFF2-40B4-BE49-F238E27FC236}">
                <a16:creationId xmlns:a16="http://schemas.microsoft.com/office/drawing/2014/main" id="{080D8FB5-6D51-8839-9F19-B11804BB8248}"/>
              </a:ext>
            </a:extLst>
          </p:cNvPr>
          <p:cNvSpPr txBox="1"/>
          <p:nvPr/>
        </p:nvSpPr>
        <p:spPr>
          <a:xfrm>
            <a:off x="402772" y="5041154"/>
            <a:ext cx="10690608" cy="1298882"/>
          </a:xfrm>
          <a:prstGeom prst="rect">
            <a:avLst/>
          </a:prstGeom>
          <a:noFill/>
        </p:spPr>
        <p:txBody>
          <a:bodyPr wrap="square">
            <a:spAutoFit/>
          </a:bodyPr>
          <a:lstStyle/>
          <a:p>
            <a:pPr marL="285750" indent="-285750">
              <a:lnSpc>
                <a:spcPct val="150000"/>
              </a:lnSpc>
              <a:buFontTx/>
              <a:buChar char="-"/>
            </a:pPr>
            <a:r>
              <a:rPr lang="en-US" dirty="0">
                <a:solidFill>
                  <a:schemeClr val="tx2">
                    <a:lumMod val="75000"/>
                    <a:lumOff val="25000"/>
                  </a:schemeClr>
                </a:solidFill>
              </a:rPr>
              <a:t>Most of the passengers are Returning Customers</a:t>
            </a:r>
          </a:p>
          <a:p>
            <a:pPr marL="285750" indent="-285750">
              <a:lnSpc>
                <a:spcPct val="150000"/>
              </a:lnSpc>
              <a:buFontTx/>
              <a:buChar char="-"/>
            </a:pPr>
            <a:r>
              <a:rPr lang="en-US" dirty="0">
                <a:solidFill>
                  <a:schemeClr val="tx2">
                    <a:lumMod val="75000"/>
                    <a:lumOff val="25000"/>
                  </a:schemeClr>
                </a:solidFill>
              </a:rPr>
              <a:t>Business purpose travel passengers are more satisfied than personal travel passengers</a:t>
            </a:r>
          </a:p>
          <a:p>
            <a:pPr marL="285750" indent="-285750">
              <a:lnSpc>
                <a:spcPct val="150000"/>
              </a:lnSpc>
              <a:buFontTx/>
              <a:buChar char="-"/>
            </a:pPr>
            <a:r>
              <a:rPr lang="en-US" dirty="0">
                <a:solidFill>
                  <a:schemeClr val="tx2">
                    <a:lumMod val="75000"/>
                    <a:lumOff val="25000"/>
                  </a:schemeClr>
                </a:solidFill>
              </a:rPr>
              <a:t>Business class passengers are more satisfied than Economy and Economy Plus passengers</a:t>
            </a:r>
          </a:p>
        </p:txBody>
      </p:sp>
      <p:sp>
        <p:nvSpPr>
          <p:cNvPr id="14" name="TextBox 13">
            <a:extLst>
              <a:ext uri="{FF2B5EF4-FFF2-40B4-BE49-F238E27FC236}">
                <a16:creationId xmlns:a16="http://schemas.microsoft.com/office/drawing/2014/main" id="{30CD9C74-4C68-6143-749F-DA42B8E4C177}"/>
              </a:ext>
            </a:extLst>
          </p:cNvPr>
          <p:cNvSpPr txBox="1"/>
          <p:nvPr/>
        </p:nvSpPr>
        <p:spPr>
          <a:xfrm>
            <a:off x="2582426" y="1437992"/>
            <a:ext cx="7586506" cy="369332"/>
          </a:xfrm>
          <a:prstGeom prst="rect">
            <a:avLst/>
          </a:prstGeom>
          <a:noFill/>
        </p:spPr>
        <p:txBody>
          <a:bodyPr wrap="square" rtlCol="0">
            <a:spAutoFit/>
          </a:bodyPr>
          <a:lstStyle/>
          <a:p>
            <a:r>
              <a:rPr lang="en-US" b="1" dirty="0">
                <a:solidFill>
                  <a:schemeClr val="accent3">
                    <a:lumMod val="60000"/>
                    <a:lumOff val="40000"/>
                  </a:schemeClr>
                </a:solidFill>
              </a:rPr>
              <a:t>Count plot between Categorical features by Satisfaction feature</a:t>
            </a:r>
          </a:p>
        </p:txBody>
      </p:sp>
    </p:spTree>
    <p:extLst>
      <p:ext uri="{BB962C8B-B14F-4D97-AF65-F5344CB8AC3E}">
        <p14:creationId xmlns:p14="http://schemas.microsoft.com/office/powerpoint/2010/main" val="340560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F9DB-092E-37EA-2583-03F433065754}"/>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70B0682-F054-624C-CAC6-14223F27F8B6}"/>
              </a:ext>
            </a:extLst>
          </p:cNvPr>
          <p:cNvPicPr>
            <a:picLocks noGrp="1" noChangeAspect="1"/>
          </p:cNvPicPr>
          <p:nvPr>
            <p:ph idx="1"/>
          </p:nvPr>
        </p:nvPicPr>
        <p:blipFill>
          <a:blip r:embed="rId2"/>
          <a:stretch>
            <a:fillRect/>
          </a:stretch>
        </p:blipFill>
        <p:spPr>
          <a:xfrm>
            <a:off x="2090058" y="1672922"/>
            <a:ext cx="7600134" cy="5052604"/>
          </a:xfrm>
        </p:spPr>
      </p:pic>
      <p:sp>
        <p:nvSpPr>
          <p:cNvPr id="4" name="Title 1">
            <a:extLst>
              <a:ext uri="{FF2B5EF4-FFF2-40B4-BE49-F238E27FC236}">
                <a16:creationId xmlns:a16="http://schemas.microsoft.com/office/drawing/2014/main" id="{5A64EF0E-44F8-2D8B-1259-379E1FDA3451}"/>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Exploratory Data Analysis</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FC4D0BEC-2019-B2E2-847D-4B419BC526D7}"/>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0FD131E-3BDA-143E-9A9A-AD8D6684DF65}"/>
              </a:ext>
            </a:extLst>
          </p:cNvPr>
          <p:cNvSpPr txBox="1"/>
          <p:nvPr/>
        </p:nvSpPr>
        <p:spPr>
          <a:xfrm>
            <a:off x="914400" y="1206967"/>
            <a:ext cx="7586506" cy="369332"/>
          </a:xfrm>
          <a:prstGeom prst="rect">
            <a:avLst/>
          </a:prstGeom>
          <a:noFill/>
        </p:spPr>
        <p:txBody>
          <a:bodyPr wrap="square" rtlCol="0">
            <a:spAutoFit/>
          </a:bodyPr>
          <a:lstStyle/>
          <a:p>
            <a:r>
              <a:rPr lang="en-US" b="1" dirty="0">
                <a:solidFill>
                  <a:schemeClr val="accent3">
                    <a:lumMod val="60000"/>
                    <a:lumOff val="40000"/>
                  </a:schemeClr>
                </a:solidFill>
              </a:rPr>
              <a:t>Count plot between Survey features by Satisfaction column</a:t>
            </a:r>
          </a:p>
        </p:txBody>
      </p:sp>
    </p:spTree>
    <p:extLst>
      <p:ext uri="{BB962C8B-B14F-4D97-AF65-F5344CB8AC3E}">
        <p14:creationId xmlns:p14="http://schemas.microsoft.com/office/powerpoint/2010/main" val="975758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0E74-465D-6F79-5E5B-391F8267EE9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F3DCC82-33F5-A87B-3BB2-DBFFFF48CB3E}"/>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Model Selection</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89523094-F115-B3F7-B4E4-85718680548E}"/>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Content Placeholder 5">
            <a:extLst>
              <a:ext uri="{FF2B5EF4-FFF2-40B4-BE49-F238E27FC236}">
                <a16:creationId xmlns:a16="http://schemas.microsoft.com/office/drawing/2014/main" id="{844C0588-C257-F217-78D5-D17D90923694}"/>
              </a:ext>
            </a:extLst>
          </p:cNvPr>
          <p:cNvSpPr>
            <a:spLocks noGrp="1"/>
          </p:cNvSpPr>
          <p:nvPr>
            <p:ph idx="1"/>
          </p:nvPr>
        </p:nvSpPr>
        <p:spPr>
          <a:xfrm>
            <a:off x="838200" y="1205806"/>
            <a:ext cx="10515600" cy="5204630"/>
          </a:xfrm>
        </p:spPr>
        <p:txBody>
          <a:bodyPr>
            <a:noAutofit/>
          </a:bodyPr>
          <a:lstStyle/>
          <a:p>
            <a:pPr marL="285750" indent="-285750">
              <a:lnSpc>
                <a:spcPct val="150000"/>
              </a:lnSpc>
              <a:spcBef>
                <a:spcPts val="0"/>
              </a:spcBef>
              <a:buFontTx/>
              <a:buChar char="-"/>
            </a:pPr>
            <a:r>
              <a:rPr lang="en-US" sz="1700" b="1" dirty="0">
                <a:solidFill>
                  <a:srgbClr val="C00000"/>
                </a:solidFill>
              </a:rPr>
              <a:t>Logistic Regression:</a:t>
            </a:r>
            <a:r>
              <a:rPr lang="en-US" sz="1700" dirty="0">
                <a:solidFill>
                  <a:schemeClr val="tx2">
                    <a:lumMod val="75000"/>
                    <a:lumOff val="25000"/>
                  </a:schemeClr>
                </a:solidFill>
              </a:rPr>
              <a:t> A linear model used for binary classification (predicting one of two classes). </a:t>
            </a:r>
          </a:p>
          <a:p>
            <a:pPr marL="285750" indent="-285750">
              <a:lnSpc>
                <a:spcPct val="150000"/>
              </a:lnSpc>
              <a:spcBef>
                <a:spcPts val="0"/>
              </a:spcBef>
              <a:buFontTx/>
              <a:buChar char="-"/>
            </a:pPr>
            <a:r>
              <a:rPr lang="en-US" sz="1700" b="1" dirty="0">
                <a:solidFill>
                  <a:srgbClr val="C00000"/>
                </a:solidFill>
              </a:rPr>
              <a:t>Decision Trees: </a:t>
            </a:r>
            <a:r>
              <a:rPr lang="en-US" sz="1700" dirty="0">
                <a:solidFill>
                  <a:schemeClr val="tx2">
                    <a:lumMod val="75000"/>
                    <a:lumOff val="25000"/>
                  </a:schemeClr>
                </a:solidFill>
              </a:rPr>
              <a:t>A non-linear model that uses a tree-like structure to make decisions based on data features. </a:t>
            </a:r>
          </a:p>
          <a:p>
            <a:pPr marL="285750" indent="-285750">
              <a:lnSpc>
                <a:spcPct val="150000"/>
              </a:lnSpc>
              <a:spcBef>
                <a:spcPts val="0"/>
              </a:spcBef>
              <a:buFontTx/>
              <a:buChar char="-"/>
            </a:pPr>
            <a:r>
              <a:rPr lang="en-US" sz="1700" b="1" dirty="0">
                <a:solidFill>
                  <a:srgbClr val="C00000"/>
                </a:solidFill>
              </a:rPr>
              <a:t>Random Forests: </a:t>
            </a:r>
            <a:r>
              <a:rPr lang="en-US" sz="1700" dirty="0">
                <a:solidFill>
                  <a:schemeClr val="tx2">
                    <a:lumMod val="75000"/>
                    <a:lumOff val="25000"/>
                  </a:schemeClr>
                </a:solidFill>
              </a:rPr>
              <a:t>An ensemble method that combines multiple decision trees to improve accuracy and robustness. </a:t>
            </a:r>
          </a:p>
          <a:p>
            <a:pPr marL="285750" indent="-285750">
              <a:lnSpc>
                <a:spcPct val="150000"/>
              </a:lnSpc>
              <a:spcBef>
                <a:spcPts val="0"/>
              </a:spcBef>
              <a:buFontTx/>
              <a:buChar char="-"/>
            </a:pPr>
            <a:r>
              <a:rPr lang="en-US" sz="1700" b="1" dirty="0">
                <a:solidFill>
                  <a:srgbClr val="C00000"/>
                </a:solidFill>
              </a:rPr>
              <a:t>SVM:</a:t>
            </a:r>
            <a:r>
              <a:rPr lang="en-US" sz="1700" dirty="0">
                <a:solidFill>
                  <a:schemeClr val="tx2">
                    <a:lumMod val="75000"/>
                    <a:lumOff val="25000"/>
                  </a:schemeClr>
                </a:solidFill>
              </a:rPr>
              <a:t> A powerful algorithm that finds the optimal hyperplane to separate data into classes. </a:t>
            </a:r>
          </a:p>
          <a:p>
            <a:pPr marL="285750" indent="-285750">
              <a:lnSpc>
                <a:spcPct val="150000"/>
              </a:lnSpc>
              <a:spcBef>
                <a:spcPts val="0"/>
              </a:spcBef>
              <a:buFontTx/>
              <a:buChar char="-"/>
            </a:pPr>
            <a:r>
              <a:rPr lang="en-US" sz="1700" b="1" dirty="0">
                <a:solidFill>
                  <a:srgbClr val="C00000"/>
                </a:solidFill>
              </a:rPr>
              <a:t>K-Nearest Neighbors: </a:t>
            </a:r>
            <a:r>
              <a:rPr lang="en-US" sz="1700" dirty="0">
                <a:solidFill>
                  <a:schemeClr val="tx2">
                    <a:lumMod val="75000"/>
                    <a:lumOff val="25000"/>
                  </a:schemeClr>
                </a:solidFill>
              </a:rPr>
              <a:t>A non-parametric algorithm that classifies data based on the majority class of its nearest neighbors. </a:t>
            </a:r>
          </a:p>
          <a:p>
            <a:pPr marL="285750" indent="-285750">
              <a:lnSpc>
                <a:spcPct val="150000"/>
              </a:lnSpc>
              <a:spcBef>
                <a:spcPts val="0"/>
              </a:spcBef>
              <a:buFontTx/>
              <a:buChar char="-"/>
            </a:pPr>
            <a:r>
              <a:rPr lang="en-US" sz="1700" b="1" dirty="0">
                <a:solidFill>
                  <a:srgbClr val="C00000"/>
                </a:solidFill>
              </a:rPr>
              <a:t>Gradient Boosting:  </a:t>
            </a:r>
            <a:r>
              <a:rPr lang="en-US" sz="1700" dirty="0">
                <a:solidFill>
                  <a:schemeClr val="accent4">
                    <a:lumMod val="75000"/>
                  </a:schemeClr>
                </a:solidFill>
              </a:rPr>
              <a:t>It is an ensemble learning method used for classification and regression tasks. It is a boosting algorithm which combine multiple weak learner to create a strong predictive model. It works by sequentially training models where each new model tries to correct the errors made by its predecessor.</a:t>
            </a:r>
          </a:p>
          <a:p>
            <a:pPr marL="285750" indent="-285750">
              <a:lnSpc>
                <a:spcPct val="150000"/>
              </a:lnSpc>
              <a:spcBef>
                <a:spcPts val="0"/>
              </a:spcBef>
              <a:buFontTx/>
              <a:buChar char="-"/>
            </a:pPr>
            <a:r>
              <a:rPr lang="en-US" sz="1700" b="1" dirty="0" err="1">
                <a:solidFill>
                  <a:srgbClr val="C00000"/>
                </a:solidFill>
              </a:rPr>
              <a:t>XGBoost</a:t>
            </a:r>
            <a:r>
              <a:rPr lang="en-US" sz="1700" b="1" dirty="0">
                <a:solidFill>
                  <a:srgbClr val="C00000"/>
                </a:solidFill>
              </a:rPr>
              <a:t> (Extreme Gradient Boosting) : </a:t>
            </a:r>
            <a:r>
              <a:rPr lang="en-US" sz="1700" dirty="0">
                <a:solidFill>
                  <a:schemeClr val="accent4">
                    <a:lumMod val="75000"/>
                  </a:schemeClr>
                </a:solidFill>
              </a:rPr>
              <a:t>Advanced version of Gradient Boosting that includes regularization to prevent overfitting. Faster than traditional Gradient Boosting, for large datasets.</a:t>
            </a:r>
          </a:p>
        </p:txBody>
      </p:sp>
    </p:spTree>
    <p:extLst>
      <p:ext uri="{BB962C8B-B14F-4D97-AF65-F5344CB8AC3E}">
        <p14:creationId xmlns:p14="http://schemas.microsoft.com/office/powerpoint/2010/main" val="51180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70439-8394-1485-1F8A-C95D47B979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D12783-270D-E75A-DDBE-37E6342514A2}"/>
              </a:ext>
            </a:extLst>
          </p:cNvPr>
          <p:cNvSpPr>
            <a:spLocks noGrp="1"/>
          </p:cNvSpPr>
          <p:nvPr>
            <p:ph idx="1"/>
          </p:nvPr>
        </p:nvSpPr>
        <p:spPr>
          <a:xfrm>
            <a:off x="687474" y="1494954"/>
            <a:ext cx="10515600" cy="4805362"/>
          </a:xfrm>
        </p:spPr>
        <p:txBody>
          <a:bodyPr>
            <a:normAutofit/>
          </a:bodyPr>
          <a:lstStyle/>
          <a:p>
            <a:pPr>
              <a:lnSpc>
                <a:spcPct val="100000"/>
              </a:lnSpc>
              <a:buFont typeface="Arial" panose="020B0604020202020204" pitchFamily="34" charset="0"/>
              <a:buChar char="•"/>
            </a:pPr>
            <a:r>
              <a:rPr lang="en-US" dirty="0">
                <a:solidFill>
                  <a:schemeClr val="tx2">
                    <a:lumMod val="75000"/>
                    <a:lumOff val="25000"/>
                  </a:schemeClr>
                </a:solidFill>
              </a:rPr>
              <a:t>Train and Test Split</a:t>
            </a:r>
          </a:p>
          <a:p>
            <a:pPr marL="0" indent="0">
              <a:lnSpc>
                <a:spcPct val="100000"/>
              </a:lnSpc>
              <a:buNone/>
            </a:pPr>
            <a:r>
              <a:rPr lang="en-US" sz="2100" dirty="0">
                <a:solidFill>
                  <a:schemeClr val="tx2">
                    <a:lumMod val="75000"/>
                    <a:lumOff val="25000"/>
                  </a:schemeClr>
                </a:solidFill>
              </a:rPr>
              <a:t>   - Split the data 80% Train data and 20% Test data</a:t>
            </a:r>
          </a:p>
          <a:p>
            <a:pPr>
              <a:lnSpc>
                <a:spcPct val="100000"/>
              </a:lnSpc>
            </a:pPr>
            <a:r>
              <a:rPr lang="en-US" dirty="0">
                <a:solidFill>
                  <a:schemeClr val="tx2">
                    <a:lumMod val="75000"/>
                    <a:lumOff val="25000"/>
                  </a:schemeClr>
                </a:solidFill>
              </a:rPr>
              <a:t>Metrics used for evaluation (Performance Matrix):</a:t>
            </a:r>
          </a:p>
          <a:p>
            <a:pPr marL="0" indent="0">
              <a:lnSpc>
                <a:spcPct val="100000"/>
              </a:lnSpc>
              <a:buNone/>
            </a:pPr>
            <a:r>
              <a:rPr lang="en-US" dirty="0">
                <a:solidFill>
                  <a:schemeClr val="tx2">
                    <a:lumMod val="75000"/>
                    <a:lumOff val="25000"/>
                  </a:schemeClr>
                </a:solidFill>
              </a:rPr>
              <a:t>  </a:t>
            </a:r>
            <a:r>
              <a:rPr lang="en-US" sz="2100" dirty="0">
                <a:solidFill>
                  <a:schemeClr val="tx2">
                    <a:lumMod val="75000"/>
                    <a:lumOff val="25000"/>
                  </a:schemeClr>
                </a:solidFill>
              </a:rPr>
              <a:t>- Accuracy: Overall correctness.</a:t>
            </a:r>
          </a:p>
          <a:p>
            <a:pPr marL="0" indent="0">
              <a:lnSpc>
                <a:spcPct val="100000"/>
              </a:lnSpc>
              <a:buNone/>
            </a:pPr>
            <a:r>
              <a:rPr lang="en-US" sz="2100" dirty="0">
                <a:solidFill>
                  <a:schemeClr val="tx2">
                    <a:lumMod val="75000"/>
                    <a:lumOff val="25000"/>
                  </a:schemeClr>
                </a:solidFill>
              </a:rPr>
              <a:t>  - Precision: Correct positive predictions.</a:t>
            </a:r>
          </a:p>
          <a:p>
            <a:pPr marL="0" indent="0">
              <a:lnSpc>
                <a:spcPct val="100000"/>
              </a:lnSpc>
              <a:buNone/>
            </a:pPr>
            <a:r>
              <a:rPr lang="en-US" sz="2100" dirty="0">
                <a:solidFill>
                  <a:schemeClr val="tx2">
                    <a:lumMod val="75000"/>
                    <a:lumOff val="25000"/>
                  </a:schemeClr>
                </a:solidFill>
              </a:rPr>
              <a:t>  - Recall: Ability to detect all Dissatisfied cases.</a:t>
            </a:r>
          </a:p>
          <a:p>
            <a:pPr marL="0" indent="0">
              <a:lnSpc>
                <a:spcPct val="100000"/>
              </a:lnSpc>
              <a:buNone/>
            </a:pPr>
            <a:r>
              <a:rPr lang="en-US" sz="2100" dirty="0">
                <a:solidFill>
                  <a:schemeClr val="tx2">
                    <a:lumMod val="75000"/>
                    <a:lumOff val="25000"/>
                  </a:schemeClr>
                </a:solidFill>
              </a:rPr>
              <a:t>  - F1 Score: Balancing precision and recall.</a:t>
            </a:r>
          </a:p>
          <a:p>
            <a:pPr marL="0" indent="0">
              <a:lnSpc>
                <a:spcPct val="100000"/>
              </a:lnSpc>
              <a:buNone/>
            </a:pPr>
            <a:r>
              <a:rPr lang="en-US" sz="2100" dirty="0">
                <a:solidFill>
                  <a:schemeClr val="tx2">
                    <a:lumMod val="75000"/>
                    <a:lumOff val="25000"/>
                  </a:schemeClr>
                </a:solidFill>
              </a:rPr>
              <a:t>  - ROC Curve: Visualizing trade-offs between true positive and false positive rates.</a:t>
            </a:r>
            <a:endParaRPr lang="en-US" dirty="0">
              <a:solidFill>
                <a:schemeClr val="tx2">
                  <a:lumMod val="75000"/>
                  <a:lumOff val="25000"/>
                </a:schemeClr>
              </a:solidFill>
            </a:endParaRPr>
          </a:p>
          <a:p>
            <a:pPr marL="0" indent="0">
              <a:lnSpc>
                <a:spcPct val="100000"/>
              </a:lnSpc>
              <a:buNone/>
            </a:pPr>
            <a:endParaRPr lang="en-US" sz="2800" dirty="0">
              <a:solidFill>
                <a:schemeClr val="tx2">
                  <a:lumMod val="75000"/>
                  <a:lumOff val="25000"/>
                </a:schemeClr>
              </a:solidFill>
            </a:endParaRPr>
          </a:p>
          <a:p>
            <a:pPr marL="0" indent="0">
              <a:lnSpc>
                <a:spcPct val="100000"/>
              </a:lnSpc>
              <a:buNone/>
            </a:pPr>
            <a:endParaRPr lang="en-US" sz="2800" dirty="0">
              <a:solidFill>
                <a:schemeClr val="tx2">
                  <a:lumMod val="75000"/>
                  <a:lumOff val="25000"/>
                </a:schemeClr>
              </a:solidFill>
            </a:endParaRPr>
          </a:p>
          <a:p>
            <a:endParaRPr lang="en-US" dirty="0"/>
          </a:p>
        </p:txBody>
      </p:sp>
      <p:sp>
        <p:nvSpPr>
          <p:cNvPr id="4" name="Title 1">
            <a:extLst>
              <a:ext uri="{FF2B5EF4-FFF2-40B4-BE49-F238E27FC236}">
                <a16:creationId xmlns:a16="http://schemas.microsoft.com/office/drawing/2014/main" id="{99794EEA-78F0-59CA-D517-E7BE74B77B56}"/>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Model Training and Evaluation</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5EFD58DB-722B-FD71-082E-12611BC985A0}"/>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502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table with numbers and symbols&#10;&#10;AI-generated content may be incorrect.">
            <a:extLst>
              <a:ext uri="{FF2B5EF4-FFF2-40B4-BE49-F238E27FC236}">
                <a16:creationId xmlns:a16="http://schemas.microsoft.com/office/drawing/2014/main" id="{1CB50A67-8E93-4605-3A3D-04061CF323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659" y="1488629"/>
            <a:ext cx="6496957" cy="2896004"/>
          </a:xfrm>
        </p:spPr>
      </p:pic>
      <p:sp>
        <p:nvSpPr>
          <p:cNvPr id="4" name="Title 1">
            <a:extLst>
              <a:ext uri="{FF2B5EF4-FFF2-40B4-BE49-F238E27FC236}">
                <a16:creationId xmlns:a16="http://schemas.microsoft.com/office/drawing/2014/main" id="{0DDA4EAA-B412-52B7-EBA0-42A0C5D4D41B}"/>
              </a:ext>
            </a:extLst>
          </p:cNvPr>
          <p:cNvSpPr txBox="1">
            <a:spLocks/>
          </p:cNvSpPr>
          <p:nvPr/>
        </p:nvSpPr>
        <p:spPr>
          <a:xfrm>
            <a:off x="402772" y="44756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chemeClr val="tx2">
                    <a:lumMod val="75000"/>
                    <a:lumOff val="25000"/>
                  </a:schemeClr>
                </a:solidFill>
              </a:rPr>
              <a:t>Model Training and Evaluation</a:t>
            </a:r>
            <a:br>
              <a:rPr lang="en-US" dirty="0">
                <a:solidFill>
                  <a:schemeClr val="tx2">
                    <a:lumMod val="90000"/>
                    <a:lumOff val="10000"/>
                  </a:schemeClr>
                </a:solidFill>
              </a:rPr>
            </a:br>
            <a:endParaRPr lang="en-US" dirty="0">
              <a:solidFill>
                <a:schemeClr val="tx2">
                  <a:lumMod val="90000"/>
                  <a:lumOff val="10000"/>
                </a:schemeClr>
              </a:solidFill>
            </a:endParaRPr>
          </a:p>
        </p:txBody>
      </p:sp>
      <p:cxnSp>
        <p:nvCxnSpPr>
          <p:cNvPr id="5" name="Straight Connector 4">
            <a:extLst>
              <a:ext uri="{FF2B5EF4-FFF2-40B4-BE49-F238E27FC236}">
                <a16:creationId xmlns:a16="http://schemas.microsoft.com/office/drawing/2014/main" id="{41C49120-180D-FF95-2DC7-7B83D0601553}"/>
              </a:ext>
            </a:extLst>
          </p:cNvPr>
          <p:cNvCxnSpPr>
            <a:cxnSpLocks/>
          </p:cNvCxnSpPr>
          <p:nvPr/>
        </p:nvCxnSpPr>
        <p:spPr>
          <a:xfrm>
            <a:off x="402772" y="1110343"/>
            <a:ext cx="11386456" cy="0"/>
          </a:xfrm>
          <a:prstGeom prst="line">
            <a:avLst/>
          </a:prstGeom>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3605AF61-3430-4A12-C3AE-B5557CF59675}"/>
              </a:ext>
            </a:extLst>
          </p:cNvPr>
          <p:cNvPicPr>
            <a:picLocks noChangeAspect="1"/>
          </p:cNvPicPr>
          <p:nvPr/>
        </p:nvPicPr>
        <p:blipFill>
          <a:blip r:embed="rId3"/>
          <a:stretch>
            <a:fillRect/>
          </a:stretch>
        </p:blipFill>
        <p:spPr>
          <a:xfrm>
            <a:off x="6772589" y="1217702"/>
            <a:ext cx="4885225" cy="3867175"/>
          </a:xfrm>
          <a:prstGeom prst="rect">
            <a:avLst/>
          </a:prstGeom>
        </p:spPr>
      </p:pic>
      <p:sp>
        <p:nvSpPr>
          <p:cNvPr id="10" name="Content Placeholder 2">
            <a:extLst>
              <a:ext uri="{FF2B5EF4-FFF2-40B4-BE49-F238E27FC236}">
                <a16:creationId xmlns:a16="http://schemas.microsoft.com/office/drawing/2014/main" id="{94A06E70-7FFC-5AFB-B35C-BEB022C1EA60}"/>
              </a:ext>
            </a:extLst>
          </p:cNvPr>
          <p:cNvSpPr txBox="1">
            <a:spLocks/>
          </p:cNvSpPr>
          <p:nvPr/>
        </p:nvSpPr>
        <p:spPr>
          <a:xfrm>
            <a:off x="534185" y="4536422"/>
            <a:ext cx="6630289" cy="196486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000" b="1" dirty="0" err="1">
                <a:solidFill>
                  <a:schemeClr val="tx2">
                    <a:lumMod val="75000"/>
                    <a:lumOff val="25000"/>
                  </a:schemeClr>
                </a:solidFill>
              </a:rPr>
              <a:t>XGBoost</a:t>
            </a:r>
            <a:r>
              <a:rPr lang="en-US" sz="2000" dirty="0">
                <a:solidFill>
                  <a:schemeClr val="tx2">
                    <a:lumMod val="75000"/>
                    <a:lumOff val="25000"/>
                  </a:schemeClr>
                </a:solidFill>
              </a:rPr>
              <a:t> is the best choice for this classification task due to its consistently high performance across all metrics, particularly in balancing precision and recall, and achieving the highest ROC AUC, indicating excellent classification capability.</a:t>
            </a:r>
          </a:p>
        </p:txBody>
      </p:sp>
    </p:spTree>
    <p:extLst>
      <p:ext uri="{BB962C8B-B14F-4D97-AF65-F5344CB8AC3E}">
        <p14:creationId xmlns:p14="http://schemas.microsoft.com/office/powerpoint/2010/main" val="2077762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423</TotalTime>
  <Words>552</Words>
  <Application>Microsoft Office PowerPoint</Application>
  <PresentationFormat>Widescreen</PresentationFormat>
  <Paragraphs>59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Airline Passenger Satisfaction</vt:lpstr>
      <vt:lpstr>Dataset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Karunakar Reddy</dc:creator>
  <cp:lastModifiedBy>Karunakar Reddy</cp:lastModifiedBy>
  <cp:revision>15</cp:revision>
  <dcterms:created xsi:type="dcterms:W3CDTF">2025-05-09T09:32:04Z</dcterms:created>
  <dcterms:modified xsi:type="dcterms:W3CDTF">2025-05-10T16:49:39Z</dcterms:modified>
</cp:coreProperties>
</file>